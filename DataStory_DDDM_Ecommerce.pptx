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50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2796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50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114300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Performances &amp; Satisfaction Client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" y="26974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identifier les produits a promouvoir, surveiller ou retirer du catalogue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combinant analyse des sentiments et performances commerciales 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1D27"/>
          </a:solidFill>
          <a:ln w="12700">
            <a:solidFill>
              <a:srgbClr val="1A1D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47731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smtClean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SALMA ZAKOUR|  </a:t>
            </a: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E-Commerce  |  </a:t>
            </a:r>
            <a:r>
              <a:rPr lang="en-US" sz="1000" dirty="0" smtClean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2025-2026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54864" cy="50292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la presentation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4023360" cy="1143000"/>
          </a:xfrm>
          <a:prstGeom prst="rect">
            <a:avLst/>
          </a:prstGeom>
          <a:solidFill>
            <a:srgbClr val="1A1D27"/>
          </a:solidFill>
          <a:ln w="12700">
            <a:solidFill>
              <a:srgbClr val="2D324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60120"/>
            <a:ext cx="502920" cy="114300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8016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51560" y="1088136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Problematique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14630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Enjeux e-commerce, question decisionnelle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960120"/>
            <a:ext cx="4023360" cy="1143000"/>
          </a:xfrm>
          <a:prstGeom prst="rect">
            <a:avLst/>
          </a:prstGeom>
          <a:solidFill>
            <a:srgbClr val="1A1D27"/>
          </a:solidFill>
          <a:ln w="12700">
            <a:solidFill>
              <a:srgbClr val="2D324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960120"/>
            <a:ext cx="502920" cy="11430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28016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349240" y="1088136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Donnees &amp; Audit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49240" y="14630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Sources, </a:t>
            </a:r>
            <a:r>
              <a:rPr lang="en-US" sz="1000" dirty="0" err="1" smtClean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240280"/>
            <a:ext cx="4023360" cy="1143000"/>
          </a:xfrm>
          <a:prstGeom prst="rect">
            <a:avLst/>
          </a:prstGeom>
          <a:solidFill>
            <a:srgbClr val="1A1D27"/>
          </a:solidFill>
          <a:ln w="12700">
            <a:solidFill>
              <a:srgbClr val="2D324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240280"/>
            <a:ext cx="502920" cy="1143000"/>
          </a:xfrm>
          <a:prstGeom prst="rect">
            <a:avLst/>
          </a:prstGeom>
          <a:solidFill>
            <a:srgbClr val="43E97B"/>
          </a:solidFill>
          <a:ln w="12700">
            <a:solidFill>
              <a:srgbClr val="43E97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56032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51560" y="2368296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Exploratoire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27432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KPIs, distributions, tests statistiques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2240280"/>
            <a:ext cx="4023360" cy="1143000"/>
          </a:xfrm>
          <a:prstGeom prst="rect">
            <a:avLst/>
          </a:prstGeom>
          <a:solidFill>
            <a:srgbClr val="1A1D27"/>
          </a:solidFill>
          <a:ln w="12700">
            <a:solidFill>
              <a:srgbClr val="2D324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240280"/>
            <a:ext cx="502920" cy="11430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256032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349240" y="2368296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&amp; Modeles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49240" y="27432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BCG, 3 </a:t>
            </a:r>
            <a:r>
              <a:rPr lang="en-US" sz="1000" dirty="0" err="1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modeles</a:t>
            </a: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smtClean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520440"/>
            <a:ext cx="4023360" cy="1143000"/>
          </a:xfrm>
          <a:prstGeom prst="rect">
            <a:avLst/>
          </a:prstGeom>
          <a:solidFill>
            <a:srgbClr val="1A1D27"/>
          </a:solidFill>
          <a:ln w="12700">
            <a:solidFill>
              <a:srgbClr val="2D324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520440"/>
            <a:ext cx="502920" cy="11430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84048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51560" y="3648456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&amp; Impact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51560" y="40233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Recommandations, score </a:t>
            </a:r>
            <a:r>
              <a:rPr lang="en-US" sz="1000" dirty="0" smtClean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3520440"/>
            <a:ext cx="4023360" cy="1143000"/>
          </a:xfrm>
          <a:prstGeom prst="rect">
            <a:avLst/>
          </a:prstGeom>
          <a:solidFill>
            <a:srgbClr val="1A1D27"/>
          </a:solidFill>
          <a:ln w="12700">
            <a:solidFill>
              <a:srgbClr val="2D324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520440"/>
            <a:ext cx="502920" cy="1143000"/>
          </a:xfrm>
          <a:prstGeom prst="rect">
            <a:avLst/>
          </a:prstGeom>
          <a:solidFill>
            <a:srgbClr val="F7576A"/>
          </a:solidFill>
          <a:ln w="12700">
            <a:solidFill>
              <a:srgbClr val="F7576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384048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349240" y="3648456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 &amp; Suivi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49240" y="40233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Protocole experimental, metriques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54864" cy="50292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Question Decisionnelle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3977640" cy="3474720"/>
          </a:xfrm>
          <a:prstGeom prst="rect">
            <a:avLst/>
          </a:prstGeom>
          <a:solidFill>
            <a:srgbClr val="1A1D27"/>
          </a:solidFill>
          <a:ln w="12700">
            <a:solidFill>
              <a:srgbClr val="2D324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078992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Metier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Marche e-commerce en forte croissance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947672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Catalogues de plus en plus larges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386584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Pression sur les marges et la satisfaction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825496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20-30% des produits generent peu de valeur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26440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Decisions produits trop souvent intuitives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17720" y="960120"/>
            <a:ext cx="4069080" cy="3474720"/>
          </a:xfrm>
          <a:prstGeom prst="rect">
            <a:avLst/>
          </a:prstGeom>
          <a:solidFill>
            <a:srgbClr val="1A1D27"/>
          </a:solidFill>
          <a:ln w="12700">
            <a:solidFill>
              <a:srgbClr val="2D324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17720" y="960120"/>
            <a:ext cx="4069080" cy="4572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07899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Decisionnelle Centrale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54880" y="150876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"Comment identifier les produits a promouvoir, surveiller ou retirer du catalogue en combinant analyse des sentiments et performances commerciales ?"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2971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 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0" y="3291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Identifier les produits a fort potentiel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54880" y="36118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Detecter les sources d'insatisfaction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54880" y="39319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Optimiser les investissements marketing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54880" y="421538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Rationaliser le catalogue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54864" cy="50292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Tree — Objectifs &amp; Metriques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096201" y="874280"/>
            <a:ext cx="2743200" cy="594360"/>
          </a:xfrm>
          <a:prstGeom prst="rect">
            <a:avLst/>
          </a:prstGeom>
          <a:solidFill>
            <a:srgbClr val="4F8EF7"/>
          </a:solidFill>
          <a:ln w="12700">
            <a:solidFill>
              <a:srgbClr val="2D324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096201" y="8742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OPTIMISER LE CATALOGUE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783080"/>
            <a:ext cx="2286000" cy="530352"/>
          </a:xfrm>
          <a:prstGeom prst="rect">
            <a:avLst/>
          </a:prstGeom>
          <a:solidFill>
            <a:srgbClr val="1A1D27"/>
          </a:solidFill>
          <a:ln w="12700">
            <a:solidFill>
              <a:srgbClr val="2D324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783080"/>
            <a:ext cx="2286000" cy="54864"/>
          </a:xfrm>
          <a:prstGeom prst="rect">
            <a:avLst/>
          </a:prstGeom>
          <a:solidFill>
            <a:srgbClr val="43E97B"/>
          </a:solidFill>
          <a:ln w="12700">
            <a:solidFill>
              <a:srgbClr val="43E9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89280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(CA)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1783080"/>
            <a:ext cx="2286000" cy="530352"/>
          </a:xfrm>
          <a:prstGeom prst="rect">
            <a:avLst/>
          </a:prstGeom>
          <a:solidFill>
            <a:srgbClr val="1A1D27"/>
          </a:solidFill>
          <a:ln w="12700">
            <a:solidFill>
              <a:srgbClr val="2D324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83280" y="1783080"/>
            <a:ext cx="2286000" cy="5486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189280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 (CSAT)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92240" y="1783080"/>
            <a:ext cx="2286000" cy="530352"/>
          </a:xfrm>
          <a:prstGeom prst="rect">
            <a:avLst/>
          </a:prstGeom>
          <a:solidFill>
            <a:srgbClr val="1A1D27"/>
          </a:solidFill>
          <a:ln w="12700">
            <a:solidFill>
              <a:srgbClr val="2D324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92240" y="1783080"/>
            <a:ext cx="2286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189280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834640"/>
            <a:ext cx="2286000" cy="1371600"/>
          </a:xfrm>
          <a:prstGeom prst="rect">
            <a:avLst/>
          </a:prstGeom>
          <a:solidFill>
            <a:srgbClr val="1A1D27"/>
          </a:solidFill>
          <a:ln w="12700">
            <a:solidFill>
              <a:srgbClr val="2D324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84048" y="3035808"/>
            <a:ext cx="54864" cy="219456"/>
          </a:xfrm>
          <a:prstGeom prst="rect">
            <a:avLst/>
          </a:prstGeom>
          <a:solidFill>
            <a:srgbClr val="43E97B"/>
          </a:solidFill>
          <a:ln w="12700">
            <a:solidFill>
              <a:srgbClr val="43E97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00837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Rev/produit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84048" y="3419856"/>
            <a:ext cx="54864" cy="219456"/>
          </a:xfrm>
          <a:prstGeom prst="rect">
            <a:avLst/>
          </a:prstGeom>
          <a:solidFill>
            <a:srgbClr val="43E97B"/>
          </a:solidFill>
          <a:ln w="12700">
            <a:solidFill>
              <a:srgbClr val="43E97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39242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Rev/categorie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84048" y="3803904"/>
            <a:ext cx="54864" cy="219456"/>
          </a:xfrm>
          <a:prstGeom prst="rect">
            <a:avLst/>
          </a:prstGeom>
          <a:solidFill>
            <a:srgbClr val="43E97B"/>
          </a:solidFill>
          <a:ln w="12700">
            <a:solidFill>
              <a:srgbClr val="43E97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77647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Rev/pays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383280" y="2834640"/>
            <a:ext cx="2286000" cy="1371600"/>
          </a:xfrm>
          <a:prstGeom prst="rect">
            <a:avLst/>
          </a:prstGeom>
          <a:solidFill>
            <a:srgbClr val="1A1D27"/>
          </a:solidFill>
          <a:ln w="12700">
            <a:solidFill>
              <a:srgbClr val="2D324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493008" y="3035808"/>
            <a:ext cx="54864" cy="219456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11880" y="300837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moyenne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493008" y="3419856"/>
            <a:ext cx="54864" cy="219456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11880" y="339242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Score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493008" y="3803904"/>
            <a:ext cx="54864" cy="219456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11880" y="377647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avis positifs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92240" y="2834640"/>
            <a:ext cx="2286000" cy="1371600"/>
          </a:xfrm>
          <a:prstGeom prst="rect">
            <a:avLst/>
          </a:prstGeom>
          <a:solidFill>
            <a:srgbClr val="1A1D27"/>
          </a:solidFill>
          <a:ln w="12700">
            <a:solidFill>
              <a:srgbClr val="2D324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601968" y="3035808"/>
            <a:ext cx="54864" cy="21945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20840" y="300837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 commandes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601968" y="3419856"/>
            <a:ext cx="54864" cy="21945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20840" y="339242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Panier moyen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601968" y="3803904"/>
            <a:ext cx="54864" cy="21945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20840" y="377647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retour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743200" y="4343400"/>
            <a:ext cx="3657600" cy="594360"/>
          </a:xfrm>
          <a:prstGeom prst="rect">
            <a:avLst/>
          </a:prstGeom>
          <a:solidFill>
            <a:srgbClr val="1A1D27"/>
          </a:solidFill>
          <a:ln w="12700">
            <a:solidFill>
              <a:srgbClr val="2D324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743200" y="4343400"/>
            <a:ext cx="365760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88920" y="441655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Composite Produit  =  40% Revenue  +  35% Satisfaction  +  25% Volume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54864" cy="50292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Donnees — Sources &amp; Audit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4023360" cy="1828800"/>
          </a:xfrm>
          <a:prstGeom prst="rect">
            <a:avLst/>
          </a:prstGeom>
          <a:solidFill>
            <a:srgbClr val="1A1D27"/>
          </a:solidFill>
          <a:ln w="12700">
            <a:solidFill>
              <a:srgbClr val="2D324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4023360" cy="6400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241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[Transactions]  Dataset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131673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E-Commerce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166420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UCI / Kaggle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192024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70 000 lignes  |  12 colonnes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914400"/>
            <a:ext cx="4023360" cy="1828800"/>
          </a:xfrm>
          <a:prstGeom prst="rect">
            <a:avLst/>
          </a:prstGeom>
          <a:solidFill>
            <a:srgbClr val="1A1D27"/>
          </a:solidFill>
          <a:ln w="12700">
            <a:solidFill>
              <a:srgbClr val="2D324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914400"/>
            <a:ext cx="4023360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0241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[Avis]  Dataset 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00600" y="131673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 Clients Produits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800600" y="166420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Amazon / Kaggle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00600" y="192024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4 550 lignes  |  9 colonnes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926080"/>
            <a:ext cx="8229600" cy="1920240"/>
          </a:xfrm>
          <a:prstGeom prst="rect">
            <a:avLst/>
          </a:prstGeom>
          <a:solidFill>
            <a:srgbClr val="1A1D27"/>
          </a:solidFill>
          <a:ln w="12700">
            <a:solidFill>
              <a:srgbClr val="2D324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94360" y="301752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Resultats Data Audit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4360" y="3383280"/>
            <a:ext cx="1508760" cy="1280160"/>
          </a:xfrm>
          <a:prstGeom prst="rect">
            <a:avLst/>
          </a:prstGeom>
          <a:solidFill>
            <a:srgbClr val="21263A"/>
          </a:solidFill>
          <a:ln w="12700">
            <a:solidFill>
              <a:srgbClr val="2D324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85800" y="3474720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3E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98.2%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85800" y="397764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Completude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240280" y="3383280"/>
            <a:ext cx="1508760" cy="1280160"/>
          </a:xfrm>
          <a:prstGeom prst="rect">
            <a:avLst/>
          </a:prstGeom>
          <a:solidFill>
            <a:srgbClr val="21263A"/>
          </a:solidFill>
          <a:ln w="12700">
            <a:solidFill>
              <a:srgbClr val="2D324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331720" y="3474720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3E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99.1%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2331720" y="397764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Coherence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886200" y="3383280"/>
            <a:ext cx="1508760" cy="1280160"/>
          </a:xfrm>
          <a:prstGeom prst="rect">
            <a:avLst/>
          </a:prstGeom>
          <a:solidFill>
            <a:srgbClr val="21263A"/>
          </a:solidFill>
          <a:ln w="12700">
            <a:solidFill>
              <a:srgbClr val="2D324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977640" y="3474720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312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3977640" y="397764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Doublons supprimes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532120" y="3383280"/>
            <a:ext cx="1508760" cy="1280160"/>
          </a:xfrm>
          <a:prstGeom prst="rect">
            <a:avLst/>
          </a:prstGeom>
          <a:solidFill>
            <a:srgbClr val="21263A"/>
          </a:solidFill>
          <a:ln w="12700">
            <a:solidFill>
              <a:srgbClr val="2D324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623560" y="3474720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0.8%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5623560" y="397764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Valeurs aberrantes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7269480" y="3474720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54864" cy="50292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Globaux — Vue d'Ensemble</a:t>
            </a:r>
            <a:endParaRPr lang="en-US" sz="3200" dirty="0"/>
          </a:p>
        </p:txBody>
      </p:sp>
      <p:pic>
        <p:nvPicPr>
          <p:cNvPr id="62" name="Picture 6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6721" y="1670021"/>
            <a:ext cx="9257441" cy="909126"/>
          </a:xfrm>
          <a:prstGeom prst="rect">
            <a:avLst/>
          </a:prstGeom>
        </p:spPr>
      </p:pic>
      <p:pic>
        <p:nvPicPr>
          <p:cNvPr id="64" name="Picture 6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574" y="2870907"/>
            <a:ext cx="8788852" cy="12446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54864" cy="50292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Exploratoire (EDA)</a:t>
            </a:r>
            <a:endParaRPr lang="en-US" sz="3200" dirty="0"/>
          </a:p>
        </p:txBody>
      </p:sp>
      <p:pic>
        <p:nvPicPr>
          <p:cNvPr id="59" name="Picture 5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90194"/>
            <a:ext cx="9051851" cy="2244742"/>
          </a:xfrm>
          <a:prstGeom prst="rect">
            <a:avLst/>
          </a:prstGeom>
        </p:spPr>
      </p:pic>
      <p:pic>
        <p:nvPicPr>
          <p:cNvPr id="60" name="Picture 5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181" y="3441272"/>
            <a:ext cx="8992819" cy="133925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54864" cy="50292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Produits — Matrice BCG</a:t>
            </a:r>
            <a:endParaRPr lang="en-US" sz="3200" dirty="0"/>
          </a:p>
        </p:txBody>
      </p:sp>
      <p:pic>
        <p:nvPicPr>
          <p:cNvPr id="38" name="Picture 37"/>
          <p:cNvPicPr>
            <a:picLocks noChangeAspect="1"/>
          </p:cNvPicPr>
          <p:nvPr/>
        </p:nvPicPr>
        <p:blipFill rotWithShape="1">
          <a:blip r:embed="rId3"/>
          <a:srcRect r="49563"/>
          <a:stretch/>
        </p:blipFill>
        <p:spPr>
          <a:xfrm>
            <a:off x="666445" y="923833"/>
            <a:ext cx="7122888" cy="421640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54864" cy="50292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Modelisation Predictive — </a:t>
            </a:r>
            <a:r>
              <a:rPr lang="en-US" sz="32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</a:t>
            </a:r>
            <a:r>
              <a:rPr lang="en-US" sz="32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Modeles</a:t>
            </a:r>
            <a:endParaRPr lang="en-US" sz="32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t="26650"/>
          <a:stretch/>
        </p:blipFill>
        <p:spPr>
          <a:xfrm>
            <a:off x="310680" y="1339703"/>
            <a:ext cx="8330400" cy="342099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54864" cy="50292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Composite Produit (SCP)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822960"/>
          </a:xfrm>
          <a:prstGeom prst="rect">
            <a:avLst/>
          </a:prstGeom>
          <a:solidFill>
            <a:srgbClr val="1A1D27"/>
          </a:solidFill>
          <a:ln w="12700">
            <a:solidFill>
              <a:srgbClr val="2D324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960120"/>
            <a:ext cx="7955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SCP  =  40% x Score Revenue  +  35% x Score Satisfaction  +  25% x Score Volume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2743200" cy="1828800"/>
          </a:xfrm>
          <a:prstGeom prst="rect">
            <a:avLst/>
          </a:prstGeom>
          <a:solidFill>
            <a:srgbClr val="1A1D27"/>
          </a:solidFill>
          <a:ln w="12700">
            <a:solidFill>
              <a:srgbClr val="2D324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920240"/>
            <a:ext cx="2743200" cy="64008"/>
          </a:xfrm>
          <a:prstGeom prst="rect">
            <a:avLst/>
          </a:prstGeom>
          <a:solidFill>
            <a:srgbClr val="43E97B"/>
          </a:solidFill>
          <a:ln w="12700">
            <a:solidFill>
              <a:srgbClr val="43E9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202996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[Rev]  Score Revenue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2395728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3E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566928" y="292608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Log(Revenue) normalise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CA catalogue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37560" y="1920240"/>
            <a:ext cx="2743200" cy="1828800"/>
          </a:xfrm>
          <a:prstGeom prst="rect">
            <a:avLst/>
          </a:prstGeom>
          <a:solidFill>
            <a:srgbClr val="1A1D27"/>
          </a:solidFill>
          <a:ln w="12700">
            <a:solidFill>
              <a:srgbClr val="2D324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37560" y="1920240"/>
            <a:ext cx="2743200" cy="6400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47288" y="202996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[Sat]  Score Satisfaction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47288" y="2395728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3447288" y="292608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moyenne produit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avis positifs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1920240"/>
            <a:ext cx="2743200" cy="1828800"/>
          </a:xfrm>
          <a:prstGeom prst="rect">
            <a:avLst/>
          </a:prstGeom>
          <a:solidFill>
            <a:srgbClr val="1A1D27"/>
          </a:solidFill>
          <a:ln w="12700">
            <a:solidFill>
              <a:srgbClr val="2D324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1920240"/>
            <a:ext cx="2743200" cy="6400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27648" y="202996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[Vol]  Score Volume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27648" y="2395728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6327648" y="292608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 commandes normalise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Frequence d'achat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886200"/>
            <a:ext cx="8229600" cy="1005840"/>
          </a:xfrm>
          <a:prstGeom prst="rect">
            <a:avLst/>
          </a:prstGeom>
          <a:solidFill>
            <a:srgbClr val="1A1D27"/>
          </a:solidFill>
          <a:ln w="12700">
            <a:solidFill>
              <a:srgbClr val="2D324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94360" y="3959352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Regles de Decision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94360" y="4251960"/>
            <a:ext cx="2514600" cy="502920"/>
          </a:xfrm>
          <a:prstGeom prst="rect">
            <a:avLst/>
          </a:prstGeom>
          <a:solidFill>
            <a:srgbClr val="21263A"/>
          </a:solidFill>
          <a:ln w="12700">
            <a:solidFill>
              <a:srgbClr val="2D324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85800" y="429768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3E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SCP &gt;= 60  -&gt;  PROMOUVOIR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85800" y="4544568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produits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91840" y="4251960"/>
            <a:ext cx="2514600" cy="502920"/>
          </a:xfrm>
          <a:prstGeom prst="rect">
            <a:avLst/>
          </a:prstGeom>
          <a:solidFill>
            <a:srgbClr val="21263A"/>
          </a:solidFill>
          <a:ln w="12700">
            <a:solidFill>
              <a:srgbClr val="2D324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383280" y="429768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&lt;= SCP &lt; 60  -&gt;  SURVEILLER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383280" y="4544568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produits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989320" y="4251960"/>
            <a:ext cx="2514600" cy="502920"/>
          </a:xfrm>
          <a:prstGeom prst="rect">
            <a:avLst/>
          </a:prstGeom>
          <a:solidFill>
            <a:srgbClr val="21263A"/>
          </a:solidFill>
          <a:ln w="12700">
            <a:solidFill>
              <a:srgbClr val="2D324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080760" y="429768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75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SCP &lt; 35  -&gt;  RETIRER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080760" y="4544568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produits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54864" cy="50292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Recommandations Actionnables</a:t>
            </a:r>
            <a:endParaRPr lang="en-US" sz="3200" dirty="0"/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366" y="1256167"/>
            <a:ext cx="10167440" cy="24861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54864" cy="50292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&amp; Flop Produits</a:t>
            </a:r>
            <a:endParaRPr lang="en-US" sz="3200" dirty="0"/>
          </a:p>
        </p:txBody>
      </p:sp>
      <p:pic>
        <p:nvPicPr>
          <p:cNvPr id="60" name="Picture 5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56" y="976744"/>
            <a:ext cx="9096287" cy="289252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54864" cy="50292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19" y="274320"/>
            <a:ext cx="958934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A/B Test — Validation des Recommandations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777240"/>
          </a:xfrm>
          <a:prstGeom prst="rect">
            <a:avLst/>
          </a:prstGeom>
          <a:solidFill>
            <a:srgbClr val="1A1D27"/>
          </a:solidFill>
          <a:ln w="12700">
            <a:solidFill>
              <a:srgbClr val="2D324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987552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H0 : Mettre en avant les produits Stars ne change pas le taux de conversion  |  H1 : +5% de conversion (a=0.05, puissance 80%)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1572768" cy="1051560"/>
          </a:xfrm>
          <a:prstGeom prst="rect">
            <a:avLst/>
          </a:prstGeom>
          <a:solidFill>
            <a:srgbClr val="1A1D27"/>
          </a:solidFill>
          <a:ln w="12700">
            <a:solidFill>
              <a:srgbClr val="2D324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965960"/>
            <a:ext cx="1389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3.0%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2423160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Conversion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121408" y="1874520"/>
            <a:ext cx="1572768" cy="1051560"/>
          </a:xfrm>
          <a:prstGeom prst="rect">
            <a:avLst/>
          </a:prstGeom>
          <a:solidFill>
            <a:srgbClr val="1A1D27"/>
          </a:solidFill>
          <a:ln w="12700">
            <a:solidFill>
              <a:srgbClr val="2D324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212848" y="1965960"/>
            <a:ext cx="1389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3E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rel.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212848" y="2423160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Effet Minimum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785616" y="1874520"/>
            <a:ext cx="1572768" cy="1051560"/>
          </a:xfrm>
          <a:prstGeom prst="rect">
            <a:avLst/>
          </a:prstGeom>
          <a:solidFill>
            <a:srgbClr val="1A1D27"/>
          </a:solidFill>
          <a:ln w="12700">
            <a:solidFill>
              <a:srgbClr val="2D324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877056" y="1965960"/>
            <a:ext cx="1389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~4 800 users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877056" y="2423160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Taille / Groupe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449824" y="1874520"/>
            <a:ext cx="1572768" cy="1051560"/>
          </a:xfrm>
          <a:prstGeom prst="rect">
            <a:avLst/>
          </a:prstGeom>
          <a:solidFill>
            <a:srgbClr val="1A1D27"/>
          </a:solidFill>
          <a:ln w="12700">
            <a:solidFill>
              <a:srgbClr val="2D324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541264" y="1965960"/>
            <a:ext cx="1389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jours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541264" y="2423160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Duree Estimee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114032" y="1874520"/>
            <a:ext cx="1572768" cy="1051560"/>
          </a:xfrm>
          <a:prstGeom prst="rect">
            <a:avLst/>
          </a:prstGeom>
          <a:solidFill>
            <a:srgbClr val="1A1D27"/>
          </a:solidFill>
          <a:ln w="12700">
            <a:solidFill>
              <a:srgbClr val="2D324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205472" y="1965960"/>
            <a:ext cx="1389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205472" y="2423160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Confiance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57200" y="3063240"/>
            <a:ext cx="3931920" cy="1828800"/>
          </a:xfrm>
          <a:prstGeom prst="rect">
            <a:avLst/>
          </a:prstGeom>
          <a:solidFill>
            <a:srgbClr val="1A1D27"/>
          </a:solidFill>
          <a:ln w="12700">
            <a:solidFill>
              <a:srgbClr val="2D324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063240"/>
            <a:ext cx="3931920" cy="54864"/>
          </a:xfrm>
          <a:prstGeom prst="rect">
            <a:avLst/>
          </a:prstGeom>
          <a:solidFill>
            <a:srgbClr val="8892B0"/>
          </a:solidFill>
          <a:ln w="12700">
            <a:solidFill>
              <a:srgbClr val="8892B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31546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Groupe Controle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94360" y="352044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Homepage actuelle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 standard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mise en avant specifique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94360" y="45537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Assignation aleatoire stratifiee par pays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63440" y="3063240"/>
            <a:ext cx="4023360" cy="1828800"/>
          </a:xfrm>
          <a:prstGeom prst="rect">
            <a:avLst/>
          </a:prstGeom>
          <a:solidFill>
            <a:srgbClr val="1A1D27"/>
          </a:solidFill>
          <a:ln w="12700">
            <a:solidFill>
              <a:srgbClr val="2D324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3063240"/>
            <a:ext cx="4023360" cy="54864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315468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Groupe Traitement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00600" y="352044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Produits Stars en positions #1-5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avant visuelle renforcee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 Recommande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00600" y="45537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Metriques : Conversion · Revenue/session · CTR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</TotalTime>
  <Words>520</Words>
  <Application>Microsoft Office PowerPoint</Application>
  <PresentationFormat>On-screen Show (16:9)</PresentationFormat>
  <Paragraphs>134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DDDM — Data Story E-Commerce</dc:title>
  <dc:subject>PptxGenJS Presentation</dc:subject>
  <dc:creator>DDDM Project</dc:creator>
  <cp:lastModifiedBy>ADMIN</cp:lastModifiedBy>
  <cp:revision>12</cp:revision>
  <dcterms:created xsi:type="dcterms:W3CDTF">2026-06-05T10:54:39Z</dcterms:created>
  <dcterms:modified xsi:type="dcterms:W3CDTF">2026-06-08T23:49:56Z</dcterms:modified>
</cp:coreProperties>
</file>