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02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279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14300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Performances &amp; Satisfaction Client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identifier les produits a promouvoir, surveiller ou retirer du catalogue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combinant analyse des sentiments et performances commerciales 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1D27"/>
          </a:solidFill>
          <a:ln w="12700">
            <a:solidFill>
              <a:srgbClr val="1A1D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7731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DDDM  |  Analyse E-Commerce  |  </a:t>
            </a:r>
            <a:r>
              <a:rPr lang="en-US" sz="1000" dirty="0" smtClean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2025-2026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presentation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4023360" cy="11430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60120"/>
            <a:ext cx="502920" cy="114300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8016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108813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Problematique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1463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Enjeux e-commerce, question decisionnelle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960120"/>
            <a:ext cx="4023360" cy="11430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960120"/>
            <a:ext cx="502920" cy="11430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28016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49240" y="108813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&amp; Audit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49240" y="1463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Sources, qualite, enrichissement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240280"/>
            <a:ext cx="4023360" cy="11430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240280"/>
            <a:ext cx="502920" cy="1143000"/>
          </a:xfrm>
          <a:prstGeom prst="rect">
            <a:avLst/>
          </a:prstGeom>
          <a:solidFill>
            <a:srgbClr val="43E97B"/>
          </a:solidFill>
          <a:ln w="12700">
            <a:solidFill>
              <a:srgbClr val="43E9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56032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236829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2743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distributions, tests statistiques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240280"/>
            <a:ext cx="4023360" cy="11430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240280"/>
            <a:ext cx="502920" cy="11430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56032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49240" y="236829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&amp; Modeles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49240" y="2743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BCG, 3 modeles ML, SHAP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520440"/>
            <a:ext cx="4023360" cy="11430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520440"/>
            <a:ext cx="502920" cy="114300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8404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51560" y="364845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&amp; Impact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51560" y="4023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Recommandations, score composite, ROI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3520440"/>
            <a:ext cx="4023360" cy="11430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520440"/>
            <a:ext cx="502920" cy="1143000"/>
          </a:xfrm>
          <a:prstGeom prst="rect">
            <a:avLst/>
          </a:prstGeom>
          <a:solidFill>
            <a:srgbClr val="F7576A"/>
          </a:solidFill>
          <a:ln w="12700">
            <a:solidFill>
              <a:srgbClr val="F757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840480"/>
            <a:ext cx="411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349240" y="364845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 &amp; Suivi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49240" y="4023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experimental, metriques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Question Decisionnelle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977640" cy="34747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78992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Metier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Marche e-commerce en forte croissance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947672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Catalogues de plus en plus larges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38658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Pression sur les marges et la satisfaction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82549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20-30% des produits generent peu de valeur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26440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Decisions produits trop souvent intuitives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960120"/>
            <a:ext cx="4069080" cy="34747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960120"/>
            <a:ext cx="4069080" cy="457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07899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Decisionnelle Centrale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"Comment identifier les produits a promouvoir, surveiller ou retirer du catalogue en combinant analyse des sentiments et performances commerciales ?"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971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: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 Identifier les produits a fort potentiel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 Detecter les sources d'insatisfaction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54880" y="3931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 Optimiser les investissements marketing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 Rationaliser le catalogue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Tree — Objectifs &amp; Metriques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096201" y="874280"/>
            <a:ext cx="2743200" cy="594360"/>
          </a:xfrm>
          <a:prstGeom prst="rect">
            <a:avLst/>
          </a:prstGeom>
          <a:solidFill>
            <a:srgbClr val="4F8EF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096201" y="8742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OPTIMISER LE CATALOGUE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783080"/>
            <a:ext cx="2286000" cy="530352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783080"/>
            <a:ext cx="2286000" cy="54864"/>
          </a:xfrm>
          <a:prstGeom prst="rect">
            <a:avLst/>
          </a:prstGeom>
          <a:solidFill>
            <a:srgbClr val="43E97B"/>
          </a:solidFill>
          <a:ln w="12700">
            <a:solidFill>
              <a:srgbClr val="43E9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89280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(CA)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783080"/>
            <a:ext cx="2286000" cy="530352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83280" y="1783080"/>
            <a:ext cx="228600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89280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(CSAT)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2286000" cy="530352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92240" y="1783080"/>
            <a:ext cx="22860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189280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834640"/>
            <a:ext cx="2286000" cy="13716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84048" y="3035808"/>
            <a:ext cx="54864" cy="219456"/>
          </a:xfrm>
          <a:prstGeom prst="rect">
            <a:avLst/>
          </a:prstGeom>
          <a:solidFill>
            <a:srgbClr val="43E97B"/>
          </a:solidFill>
          <a:ln w="12700">
            <a:solidFill>
              <a:srgbClr val="43E9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00837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Rev/produit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4048" y="3419856"/>
            <a:ext cx="54864" cy="219456"/>
          </a:xfrm>
          <a:prstGeom prst="rect">
            <a:avLst/>
          </a:prstGeom>
          <a:solidFill>
            <a:srgbClr val="43E97B"/>
          </a:solidFill>
          <a:ln w="12700">
            <a:solidFill>
              <a:srgbClr val="43E9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9242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Rev/categorie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4048" y="3803904"/>
            <a:ext cx="54864" cy="219456"/>
          </a:xfrm>
          <a:prstGeom prst="rect">
            <a:avLst/>
          </a:prstGeom>
          <a:solidFill>
            <a:srgbClr val="43E97B"/>
          </a:solidFill>
          <a:ln w="12700">
            <a:solidFill>
              <a:srgbClr val="43E9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77647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Rev/pays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83280" y="2834640"/>
            <a:ext cx="2286000" cy="13716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93008" y="3035808"/>
            <a:ext cx="54864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11880" y="300837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moyenne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93008" y="3419856"/>
            <a:ext cx="54864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11880" y="339242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Score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93008" y="3803904"/>
            <a:ext cx="54864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11880" y="377647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avis positifs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92240" y="2834640"/>
            <a:ext cx="2286000" cy="13716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01968" y="3035808"/>
            <a:ext cx="54864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20840" y="300837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commandes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01968" y="3419856"/>
            <a:ext cx="54864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339242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moyen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601968" y="3803904"/>
            <a:ext cx="54864" cy="21945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20840" y="377647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retour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0" y="4343400"/>
            <a:ext cx="3657600" cy="59436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743200" y="4343400"/>
            <a:ext cx="36576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88920" y="44165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Composite Produit  =  40% Revenue  +  35% Satisfaction  +  25% Volume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 — Sources &amp; Audit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023360" cy="1828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02336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24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[Transactions]  Dataset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3167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E-Commerce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6642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UCI / Kaggle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19202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70 000 lignes  |  12 colonnes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1828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24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[Avis]  Dataset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00600" y="13167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 Clients Produits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00600" y="16642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Amazon / Kaggle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00600" y="19202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4 550 lignes  |  9 colonnes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8229600" cy="192024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3017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 Data Audit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383280"/>
            <a:ext cx="1508760" cy="1280160"/>
          </a:xfrm>
          <a:prstGeom prst="rect">
            <a:avLst/>
          </a:prstGeom>
          <a:solidFill>
            <a:srgbClr val="21263A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5800" y="347472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3E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98.2%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85800" y="39776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Completude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240280" y="3383280"/>
            <a:ext cx="1508760" cy="1280160"/>
          </a:xfrm>
          <a:prstGeom prst="rect">
            <a:avLst/>
          </a:prstGeom>
          <a:solidFill>
            <a:srgbClr val="21263A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331720" y="347472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3E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99.1%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331720" y="39776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Coherence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86200" y="3383280"/>
            <a:ext cx="1508760" cy="1280160"/>
          </a:xfrm>
          <a:prstGeom prst="rect">
            <a:avLst/>
          </a:prstGeom>
          <a:solidFill>
            <a:srgbClr val="21263A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977640" y="347472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977640" y="39776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Doublons supprimes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532120" y="3383280"/>
            <a:ext cx="1508760" cy="1280160"/>
          </a:xfrm>
          <a:prstGeom prst="rect">
            <a:avLst/>
          </a:prstGeom>
          <a:solidFill>
            <a:srgbClr val="21263A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23560" y="347472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23560" y="39776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aberrantes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269480" y="3474720"/>
            <a:ext cx="1325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Globaux — Vue d'Ensemble</a:t>
            </a:r>
            <a:endParaRPr lang="en-US" sz="3200" dirty="0"/>
          </a:p>
        </p:txBody>
      </p:sp>
      <p:pic>
        <p:nvPicPr>
          <p:cNvPr id="62" name="Picture 6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721" y="1670021"/>
            <a:ext cx="9257441" cy="909126"/>
          </a:xfrm>
          <a:prstGeom prst="rect">
            <a:avLst/>
          </a:prstGeom>
        </p:spPr>
      </p:pic>
      <p:pic>
        <p:nvPicPr>
          <p:cNvPr id="64" name="Picture 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574" y="2870907"/>
            <a:ext cx="8788852" cy="12446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(EDA)</a:t>
            </a:r>
            <a:endParaRPr lang="en-US" sz="3200" dirty="0"/>
          </a:p>
        </p:txBody>
      </p:sp>
      <p:pic>
        <p:nvPicPr>
          <p:cNvPr id="59" name="Picture 5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0194"/>
            <a:ext cx="9051851" cy="2244742"/>
          </a:xfrm>
          <a:prstGeom prst="rect">
            <a:avLst/>
          </a:prstGeom>
        </p:spPr>
      </p:pic>
      <p:pic>
        <p:nvPicPr>
          <p:cNvPr id="60" name="Picture 5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81" y="3441272"/>
            <a:ext cx="8992819" cy="133925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Produits — Matrice BCG</a:t>
            </a:r>
            <a:endParaRPr lang="en-US" sz="3200" dirty="0"/>
          </a:p>
        </p:txBody>
      </p:sp>
      <p:pic>
        <p:nvPicPr>
          <p:cNvPr id="38" name="Picture 37"/>
          <p:cNvPicPr>
            <a:picLocks noChangeAspect="1"/>
          </p:cNvPicPr>
          <p:nvPr/>
        </p:nvPicPr>
        <p:blipFill rotWithShape="1">
          <a:blip r:embed="rId3"/>
          <a:srcRect r="49563"/>
          <a:stretch/>
        </p:blipFill>
        <p:spPr>
          <a:xfrm>
            <a:off x="666445" y="923833"/>
            <a:ext cx="7122888" cy="42164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Modelisation Predictive — </a:t>
            </a:r>
            <a:r>
              <a:rPr lang="en-US" sz="3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r>
              <a:rPr lang="en-US" sz="32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Modeles</a:t>
            </a:r>
            <a:endParaRPr lang="en-US" sz="3200" dirty="0"/>
          </a:p>
        </p:txBody>
      </p:sp>
      <p:pic>
        <p:nvPicPr>
          <p:cNvPr id="62" name="Picture 6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7" y="1292136"/>
            <a:ext cx="9129013" cy="26533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Composite Produit (SCP)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96012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  =  40% x Score Revenue  +  35% x Score Satisfaction  +  25% x Score Volume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743200" cy="1828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2743200" cy="64008"/>
          </a:xfrm>
          <a:prstGeom prst="rect">
            <a:avLst/>
          </a:prstGeom>
          <a:solidFill>
            <a:srgbClr val="43E97B"/>
          </a:solidFill>
          <a:ln w="12700">
            <a:solidFill>
              <a:srgbClr val="43E9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02996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[Rev]  Score Revenue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3E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66928" y="2926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Log(Revenue) normalise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CA catalogue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37560" y="1920240"/>
            <a:ext cx="2743200" cy="1828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1920240"/>
            <a:ext cx="2743200" cy="64008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47288" y="202996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[Sat]  Score Satisfaction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47288" y="239572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3447288" y="2926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moyenne produit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avis positifs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920240"/>
            <a:ext cx="2743200" cy="1828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920240"/>
            <a:ext cx="27432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202996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[Vol]  Score Volume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27648" y="2395728"/>
            <a:ext cx="2514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327648" y="29260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commandes normalise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Frequence d'achat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8229600" cy="100584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3959352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Regles de Decision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4360" y="4251960"/>
            <a:ext cx="2514600" cy="502920"/>
          </a:xfrm>
          <a:prstGeom prst="rect">
            <a:avLst/>
          </a:prstGeom>
          <a:solidFill>
            <a:srgbClr val="21263A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85800" y="42976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3E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 &gt;= 60  -&gt;  PROMOUVOIR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" y="454456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produits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91840" y="4251960"/>
            <a:ext cx="2514600" cy="502920"/>
          </a:xfrm>
          <a:prstGeom prst="rect">
            <a:avLst/>
          </a:prstGeom>
          <a:solidFill>
            <a:srgbClr val="21263A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383280" y="42976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&lt;= SCP &lt; 60  -&gt;  SURVEILLER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383280" y="454456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produits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0" y="4251960"/>
            <a:ext cx="2514600" cy="502920"/>
          </a:xfrm>
          <a:prstGeom prst="rect">
            <a:avLst/>
          </a:prstGeom>
          <a:solidFill>
            <a:srgbClr val="21263A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080760" y="429768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75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 &lt; 35  -&gt;  RETIRER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80760" y="454456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produits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Recommandations Actionnables</a:t>
            </a:r>
            <a:endParaRPr lang="en-US" sz="3200" dirty="0"/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66" y="1256167"/>
            <a:ext cx="10167440" cy="2486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&amp; Flop Produits</a:t>
            </a:r>
            <a:endParaRPr lang="en-US" sz="3200" dirty="0"/>
          </a:p>
        </p:txBody>
      </p:sp>
      <p:pic>
        <p:nvPicPr>
          <p:cNvPr id="60" name="Picture 5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56" y="976744"/>
            <a:ext cx="9096287" cy="289252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74320"/>
            <a:ext cx="54864" cy="5029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19" y="274320"/>
            <a:ext cx="95893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A/B Test — Validation des Recommandations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77724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98755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 : Mettre en avant les produits Stars ne change pas le taux de conversion  |  H1 : +5% de conversion (a=0.05, puissance 80%)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572768" cy="105156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965960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3.0%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Conversion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21408" y="1874520"/>
            <a:ext cx="1572768" cy="105156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212848" y="1965960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3E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rel.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212848" y="24231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 Minimum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785616" y="1874520"/>
            <a:ext cx="1572768" cy="105156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877056" y="1965960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~4 800 users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877056" y="24231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/ Groupe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49824" y="1874520"/>
            <a:ext cx="1572768" cy="105156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541264" y="1965960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jours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541264" y="24231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Duree Estimee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114032" y="1874520"/>
            <a:ext cx="1572768" cy="105156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05472" y="1965960"/>
            <a:ext cx="1389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205472" y="2423160"/>
            <a:ext cx="1389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Confiance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063240"/>
            <a:ext cx="3931920" cy="1828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063240"/>
            <a:ext cx="3931920" cy="54864"/>
          </a:xfrm>
          <a:prstGeom prst="rect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Groupe Controle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4360" y="35204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 actuelle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standard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mise en avant specifique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" y="45537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Assignation aleatoire stratifiee par pays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63440" y="3063240"/>
            <a:ext cx="4023360" cy="1828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248"/>
            </a:solidFill>
            <a:prstDash val="solid"/>
          </a:ln>
          <a:effectLst>
            <a:outerShdw blurRad="1016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063240"/>
            <a:ext cx="4023360" cy="5486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31546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Groupe Traitement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00600" y="35204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Stars en positions #1-5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avant visuelle renforcee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Recommande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00600" y="45537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Metriques : Conversion · Revenue/session · CTR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526</Words>
  <Application>Microsoft Office PowerPoint</Application>
  <PresentationFormat>On-screen Show (16:9)</PresentationFormat>
  <Paragraphs>134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DDDM — Data Story E-Commerce</dc:title>
  <dc:subject>PptxGenJS Presentation</dc:subject>
  <dc:creator>DDDM Project</dc:creator>
  <cp:lastModifiedBy>ADMIN</cp:lastModifiedBy>
  <cp:revision>7</cp:revision>
  <dcterms:created xsi:type="dcterms:W3CDTF">2026-06-05T10:54:39Z</dcterms:created>
  <dcterms:modified xsi:type="dcterms:W3CDTF">2026-06-06T18:44:54Z</dcterms:modified>
</cp:coreProperties>
</file>